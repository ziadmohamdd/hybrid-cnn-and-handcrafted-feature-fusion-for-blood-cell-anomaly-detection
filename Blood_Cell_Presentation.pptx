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Classification Accuracy by Architecture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5F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FA-41FD-8A12-389E47F7792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8FA-41FD-8A12-389E47F77927}"/>
              </c:ext>
            </c:extLst>
          </c:dPt>
          <c:dPt>
            <c:idx val="2"/>
            <c:invertIfNegative val="0"/>
            <c:bubble3D val="0"/>
            <c:spPr>
              <a:solidFill>
                <a:srgbClr val="1A8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FA-41FD-8A12-389E47F77927}"/>
              </c:ext>
            </c:extLst>
          </c:dPt>
          <c:dPt>
            <c:idx val="3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FA-41FD-8A12-389E47F779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VGG16</c:v>
                </c:pt>
                <c:pt idx="1">
                  <c:v>ResNet50</c:v>
                </c:pt>
                <c:pt idx="2">
                  <c:v>EfficientNetB0</c:v>
                </c:pt>
                <c:pt idx="3">
                  <c:v>EfficientNet+Fusion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91.2</c:v>
                </c:pt>
                <c:pt idx="1">
                  <c:v>93.8</c:v>
                </c:pt>
                <c:pt idx="2">
                  <c:v>95.6</c:v>
                </c:pt>
                <c:pt idx="3">
                  <c:v>96.9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FA-41FD-8A12-389E47F779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"/>
          <c:min val="86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Classifier Accuracy (EfficientNetB0+Fusion)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91-4274-8841-DA995EA5D2B1}"/>
              </c:ext>
            </c:extLst>
          </c:dPt>
          <c:dPt>
            <c:idx val="1"/>
            <c:invertIfNegative val="0"/>
            <c:bubble3D val="0"/>
            <c:spPr>
              <a:solidFill>
                <a:srgbClr val="2E9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91-4274-8841-DA995EA5D2B1}"/>
              </c:ext>
            </c:extLst>
          </c:dPt>
          <c:dPt>
            <c:idx val="2"/>
            <c:invertIfNegative val="0"/>
            <c:bubble3D val="0"/>
            <c:spPr>
              <a:solidFill>
                <a:srgbClr val="F4A4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91-4274-8841-DA995EA5D2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SVM (RBF)</c:v>
                </c:pt>
                <c:pt idx="1">
                  <c:v>Random Forest</c:v>
                </c:pt>
                <c:pt idx="2">
                  <c:v>kNN (k=5)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96.9</c:v>
                </c:pt>
                <c:pt idx="1">
                  <c:v>95.2</c:v>
                </c:pt>
                <c:pt idx="2">
                  <c:v>93.1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91-4274-8841-DA995EA5D2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"/>
          <c:min val="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9192A-7794-67F4-6831-A3AB4AF4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8A10C-1C91-367B-16BB-6E49A576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BCA36-7356-9B94-B8F0-CC3FFBBE3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F243E-B32C-3863-B238-D1963B063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5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84124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CELL ANOMALY DETECTION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CNN and Handcrafted Feature Fusion: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Digital Image Processing Approach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8412480" cy="36576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Image Processing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4290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CLAHE → Median → Butterworth HPF → Custom Otsu → CNN+LBP+GLCM → PCA → SVM/kNN/RF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A4A7A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Eosinophil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069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A4A7A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Lymphocyte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4069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A4A7A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Monocyte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4069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A4A7A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Neutrophil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01168" cy="201168"/>
          </a:xfrm>
          <a:prstGeom prst="ellipse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WBC examination is slow,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fatigue-prone, and variable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201168" cy="201168"/>
          </a:xfrm>
          <a:prstGeom prst="ellipse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391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Inter-observer error can exceed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between pathologists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907792"/>
            <a:ext cx="201168" cy="201168"/>
          </a:xfrm>
          <a:prstGeom prst="ellipse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labs process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smears daily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712464"/>
            <a:ext cx="201168" cy="201168"/>
          </a:xfrm>
          <a:prstGeom prst="ellipse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484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Resource-limited settings lack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hematopathologists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4206240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12,500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in our benchmark 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WBC morphological classes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&gt;10%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inter-observer 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9319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~50×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4343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from vectorized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&amp; RESEARCH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10896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+ SVM (Rezatofighi, 2011)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048256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048256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histogram + ZM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706624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706624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Morphological descriptors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43200" cy="3108960"/>
          </a:xfrm>
          <a:prstGeom prst="rect">
            <a:avLst/>
          </a:prstGeom>
          <a:solidFill>
            <a:srgbClr val="1A8A6F"/>
          </a:solidFill>
          <a:ln w="12700">
            <a:solidFill>
              <a:srgbClr val="1A8A6F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389888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AlexNet/ResNet50 fine-tuning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2048256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2048256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Attention-CNN (Tran, 2021)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2706624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706624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CapsNet (Tavakoli, 2023)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2743200" cy="3108960"/>
          </a:xfrm>
          <a:prstGeom prst="rect">
            <a:avLst/>
          </a:prstGeom>
          <a:solidFill>
            <a:srgbClr val="7A3A9A"/>
          </a:solidFill>
          <a:ln w="12700">
            <a:solidFill>
              <a:srgbClr val="7A3A9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Methods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89888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+ LBP (Mohamed, 2021)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6208" y="2048256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048256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 + GLCM (Zhao, 2022)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2706624"/>
            <a:ext cx="2523744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706624"/>
            <a:ext cx="2487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Two-stream CNN+Tex (Su, 2022)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4A429">
              <a:alpha val="90000"/>
            </a:srgbClr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work combines all of: (1) from-scratch implementations without libraries, (2) full 8-metric evaluation, (3) vectorization speedup analysis, and (4) PCA + SelectKBest sequential reduction for WBC feature spaces.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PIPELINE — END TO END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1A4A7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77724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1417320"/>
            <a:ext cx="15727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blood cell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microscopy image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01368" y="1389888"/>
            <a:ext cx="20116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4248" y="77724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1A6A5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84248" y="77724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84248" y="1417320"/>
            <a:ext cx="15727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space L-chan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clipLimit=2.0, 8×8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7016" y="1389888"/>
            <a:ext cx="20116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77724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2E6A8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9896" y="77724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896" y="1417320"/>
            <a:ext cx="15727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ksize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noise removal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12664" y="1389888"/>
            <a:ext cx="20116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95544" y="77724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5A3A8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77724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Butterworth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95544" y="1417320"/>
            <a:ext cx="15727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domain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D0=10%, n=2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68312" y="1389888"/>
            <a:ext cx="20116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1192" y="77724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8A3A5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51192" y="77724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Otsu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51192" y="1417320"/>
            <a:ext cx="157276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B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+Morphological ops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286000"/>
            <a:ext cx="3200400" cy="36576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286000"/>
            <a:ext cx="32004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9CCA"/>
                </a:solidFill>
              </a:rPr>
              <a:t>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2514600"/>
            <a:ext cx="3749040" cy="1143000"/>
          </a:xfrm>
          <a:prstGeom prst="rect">
            <a:avLst/>
          </a:prstGeom>
          <a:solidFill>
            <a:srgbClr val="1A4A7A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Deep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35661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 (512-D)  ·  ResNet50 (2048-D)  ·  EfficientNetB0 (1280-D)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 → L2 Normalize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514600"/>
            <a:ext cx="3749040" cy="1143000"/>
          </a:xfrm>
          <a:prstGeom prst="rect">
            <a:avLst/>
          </a:prstGeom>
          <a:solidFill>
            <a:srgbClr val="1A6A4A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2852928"/>
            <a:ext cx="35661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LBP (256-D): bilinear interp, P=8, R=1  +  GLCM (16-D): 4 angles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vectorized NumPy — no scikit-image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0" y="3822192"/>
            <a:ext cx="914400" cy="0"/>
          </a:xfrm>
          <a:prstGeom prst="line">
            <a:avLst/>
          </a:prstGeom>
          <a:noFill/>
          <a:ln w="25400">
            <a:solidFill>
              <a:srgbClr val="F4A4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858768"/>
            <a:ext cx="3657600" cy="548640"/>
          </a:xfrm>
          <a:prstGeom prst="rect">
            <a:avLst/>
          </a:prstGeom>
          <a:solidFill>
            <a:srgbClr val="5A3A1A"/>
          </a:solidFill>
          <a:ln w="12700">
            <a:solidFill>
              <a:srgbClr val="F4A429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8892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Fusion → StandardScaler → PCA (50D) → SelectKBest ANOVA (30D) → SVM / kNN / RF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PREPROCESSING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640080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7772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060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08760"/>
            <a:ext cx="257860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T(x) = round((L_max/N) × Σ H_clip(k))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60604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 L-channel of CIE LAB space. clipLimit=2.0, tileGrid=8×8. Prevents color shift. Enhances nucleus–cytoplasm contrast locally.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777240"/>
            <a:ext cx="2788920" cy="64008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777240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95928" y="7772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Filter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10128" y="1508760"/>
            <a:ext cx="26060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508760"/>
            <a:ext cx="257860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I_out(i,j) = median{ I(i+m,j+n) : m,n ∈ {-1,0,1} 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148840"/>
            <a:ext cx="260604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rank-order filter. Edge-preserving. Removes CCD salt-and-pepper noise without blurring cell boundaries critical for segmentation.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777240"/>
            <a:ext cx="2788920" cy="640080"/>
          </a:xfrm>
          <a:prstGeom prst="rect">
            <a:avLst/>
          </a:prstGeom>
          <a:solidFill>
            <a:srgbClr val="5A1A7A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777240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0296" y="7772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Butterworth HPF (FFT)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4496" y="1508760"/>
            <a:ext cx="26060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508760"/>
            <a:ext cx="257860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H(u,v) = 1 – 1/(1+(D(u,v)/D₀)^2n)  [D₀=0.10, n=2]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2148840"/>
            <a:ext cx="260604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 frequency domain via FFT. Accentuates cell membrane edges. Maximally flat passband avoids Gibbs ringing artifacts.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CUSTOM OTSU SEGMENTATION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Otsu Criterion (From Scratch — No Built-in Threshold Functions)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 = argmax_t { ω₀(t) · ω₁(t) · [μ₀(t) – μ₁(t)]²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ω₀(t) = Σ p(k) for k=0..t       [class probability below 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cum_μ(t) = Σ k·p(k)  →  μ₀ = cum_μ/ω₀,  μ₁ = (μ_T – cum_μ)/ω₁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502920" cy="6217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68880"/>
            <a:ext cx="50292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Histogram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6968" y="2468880"/>
            <a:ext cx="349300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256-bin normalized histogram p(k) from grayscale 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82112"/>
            <a:ext cx="502920" cy="6217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82112"/>
            <a:ext cx="50292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Cumulative sums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6968" y="3182112"/>
            <a:ext cx="349300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t=0..255: accumulate ω₀, cum_μ incrementally (O(256) scan)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9534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95344"/>
            <a:ext cx="502920" cy="6217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95344"/>
            <a:ext cx="50292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Max variance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6968" y="3895344"/>
            <a:ext cx="349300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max between-class variance → optimal threshold t*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688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468880"/>
            <a:ext cx="502920" cy="6217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68880"/>
            <a:ext cx="50292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Binary mask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13248" y="2468880"/>
            <a:ext cx="349300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&lt; t* → foreground (darker nucleus staining)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821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182112"/>
            <a:ext cx="502920" cy="6217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82112"/>
            <a:ext cx="502920" cy="6217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Morphology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13248" y="3182112"/>
            <a:ext cx="349300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→ Dilation×2 with 5×5 kernel to refine cell boundary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applied via bitwise AND to extract segmented cell region from preprocessed BGR image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DUAL-STREAM FEATURE EXTRACTION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114800" cy="4251960"/>
          </a:xfrm>
          <a:prstGeom prst="rect">
            <a:avLst/>
          </a:prstGeom>
          <a:solidFill>
            <a:srgbClr val="0F2D50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85800"/>
            <a:ext cx="411480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8580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Deep Features (Transfer Learning)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1A3A5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512-D  ·  138M params  ·  Deep 3×3 conv blocks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1A3A5A"/>
          </a:solidFill>
          <a:ln w="9525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2048-D  ·  25.6M params  ·  Skip connections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1A5A3A"/>
          </a:solidFill>
          <a:ln w="1905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9067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  ★ Best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1280-D  ·  5.3M params  ·  Best acc/param ratio 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069080"/>
            <a:ext cx="4023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weights frozen · GlobalAvgPool · L2-normalize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685800"/>
            <a:ext cx="4114800" cy="4251960"/>
          </a:xfrm>
          <a:prstGeom prst="rect">
            <a:avLst/>
          </a:prstGeom>
          <a:solidFill>
            <a:srgbClr val="0F3520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685800"/>
            <a:ext cx="4114800" cy="457200"/>
          </a:xfrm>
          <a:prstGeom prst="rect">
            <a:avLst/>
          </a:prstGeom>
          <a:solidFill>
            <a:srgbClr val="1A6A4A"/>
          </a:solidFill>
          <a:ln w="12700">
            <a:solidFill>
              <a:srgbClr val="1A6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68580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 (NumPy Vectorized)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261872"/>
            <a:ext cx="3840480" cy="1444752"/>
          </a:xfrm>
          <a:prstGeom prst="roundRect">
            <a:avLst>
              <a:gd name="adj" fmla="val 3797"/>
            </a:avLst>
          </a:prstGeom>
          <a:solidFill>
            <a:srgbClr val="1A5A3A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LBP  (Local Binary Patterns)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P=8 neighbors, R=1 radius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Bilinear interpolation (no scikit-image)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of 2^8 = 256 codes → 256-D vector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816352"/>
            <a:ext cx="3840480" cy="1444752"/>
          </a:xfrm>
          <a:prstGeom prst="roundRect">
            <a:avLst>
              <a:gd name="adj" fmla="val 3797"/>
            </a:avLst>
          </a:prstGeom>
          <a:solidFill>
            <a:srgbClr val="1A6A3A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GLCM  (Haralick Statistics)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182112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angles × 4 features = 16-D vector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· Homogeneity · Energy · Correlation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E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d=1, 32 gray levels (quantized)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160520"/>
            <a:ext cx="4114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256 + 16 = 272-D handcrafted descriptor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 &amp; DIMENSIONALITY REDUCTION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L2-Normalized Feature Fusion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f_fused = [ f_CNN / ||f_CNN||₂  |  f_HC / ||f_HC||₂ ]   ∈  R^(dim_CNN + 272)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L2 normalize? CNN features (range ~0–50) and LBP/GLCM features (range ~0–1) operate at incompatible scales. L2 normalization maps both to the unit sphere, preventing scale-dominant features from overwhelming the SVM kernel distance.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2E5F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231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~784–1552 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mean, unit variance per feature dimension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3657600"/>
            <a:ext cx="182880" cy="0"/>
          </a:xfrm>
          <a:prstGeom prst="line">
            <a:avLst/>
          </a:prstGeom>
          <a:noFill/>
          <a:ln w="25400">
            <a:solidFill>
              <a:srgbClr val="F4A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33172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5A3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24231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(50 components)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variance preservation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≥85% of total variance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3657600"/>
            <a:ext cx="182880" cy="0"/>
          </a:xfrm>
          <a:prstGeom prst="line">
            <a:avLst/>
          </a:prstGeom>
          <a:noFill/>
          <a:ln w="25400">
            <a:solidFill>
              <a:srgbClr val="F4A4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3172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8A3A5A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4231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SelectKBest ANOVA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F-statistic discriminability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PCA components by class separability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3657600"/>
            <a:ext cx="182880" cy="0"/>
          </a:xfrm>
          <a:prstGeom prst="line">
            <a:avLst/>
          </a:prstGeom>
          <a:noFill/>
          <a:ln w="25400">
            <a:solidFill>
              <a:srgbClr val="F4A4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233172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A6A3A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95160" y="24231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 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Ready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Compact, discriminative 30-D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for SVM/kNN/RF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 COMPARISON RESULTS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804672"/>
          <a:ext cx="34290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AUC-ROC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VGG16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EfficientNetB0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EffNet + Fusion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74320" y="44074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EfficientNetB0 outperforms VGG16 with 5.3M vs 138M parameters — compound scaling is highly efficient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fusion adds +1.3% accuracy — CNN + handcrafted features are genuinely complementary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AUC-ROC 0.994 indicates near-perfect class separability in probability space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COMPARISON &amp; ABLATION STUDY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804672"/>
          <a:ext cx="4343400" cy="1554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Handcrafted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+ HC (no reduction)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+ HC + PCA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+ HC + PCA + KBest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456432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B1F3A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760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Vectorization Speedup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" y="3822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~50×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365760" y="4389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loop: 30–60 min  →  NumPy: 1–3 min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Insights:</a:t>
            </a:r>
            <a:endParaRPr lang="en-US" sz="1300" dirty="0"/>
          </a:p>
        </p:txBody>
      </p:sp>
      <p:sp>
        <p:nvSpPr>
          <p:cNvPr id="5" name="Text 7"/>
          <p:cNvSpPr/>
          <p:nvPr/>
        </p:nvSpPr>
        <p:spPr>
          <a:xfrm>
            <a:off x="4572000" y="3749040"/>
            <a:ext cx="4343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SVM wins due to max-margin bias in compact feature space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fusion HURTS (noise) — reduction is essential to realise the benefit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PCA→SelectKBest adds +1.8% over CNN-only baseline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STATE OF THE ART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6858000" cy="2590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AlexNet [Shahin]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(binary)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ResNet50 TL [Liang]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DenseNet121 [Acevedo]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CNN+LBP [Mohamed]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Attention-CNN [Tran]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ResNet+GLCM [Zhao]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2-Stream [Su]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ResNet+Gabor+GLCM [Zhao&amp;Feng]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System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Proposed system compared on 4-class task with fully reproducible public benchmark. Binary methods (2-class) achieve inflated accuracy. Our value lies in from-scratch implementation, full 8-metric evaluation, and vectorization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57200" cy="62179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777240"/>
            <a:ext cx="8092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777240"/>
            <a:ext cx="18288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777240"/>
            <a:ext cx="60350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validated on Mooney dataset only; clinical WSI generalization needs multi-site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57200" cy="62179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544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1554480"/>
            <a:ext cx="8092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554480"/>
            <a:ext cx="18288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crops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554480"/>
            <a:ext cx="60350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isolated cells; overlapping/clustered cells require instance segmentation (e.g., Mask R-CNN)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57200" cy="62179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317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2331720"/>
            <a:ext cx="8092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anomaly variants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60350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cells, hypersegmented neutrophils, reactive lymphocytes not yet covered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878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878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878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Fine-tuning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0878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Domain-adaptive fine-tuning with stain normalization augmentation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878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878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0878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(ViT)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0878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ViT embeddings as a 4th feature stream for global attention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736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736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736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Whole-Slide Image (WSI)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7736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Sliding-window cell detection on gigapixel pathology slides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736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736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7736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(XAI)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7736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+ SHAP attribution maps for clinical interpretability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4594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4594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4594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920240" y="44594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Multi-hospital training to address data scarcity and privacy constraints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45945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E9CC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459452"/>
            <a:ext cx="109728" cy="59436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4594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Anomaly Detection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459452"/>
            <a:ext cx="2423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Open-set recognition for blast cells and morphological outliers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960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CLAHE → Median → Butterworth HPF → Custom Otsu → CNN+LBP+GLCM → SVM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600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96.9% accuracy, AUC-ROC 0.994, Kappa 0.959 on 4-class WBC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240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handcrafted features implemented from mathematical first principles — fully reproducible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256032" cy="256032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880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~50× speedup via NumPy vectorization over Python loop implementation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256032" cy="256032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PCA → SelectKBest reduces ~1500-D to 30-D discriminative features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256032" cy="256032"/>
          </a:xfrm>
          <a:prstGeom prst="ellipse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fusion outperforms CNN-only by 1.3% — handcrafted features remain valuable in medical imaging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E2099-64B5-5DA8-D5A2-F5C51E59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FC2D0D-EE57-2FD7-4497-2E904CE2B83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554644-527D-7082-4FA4-E688E3D481F5}"/>
              </a:ext>
            </a:extLst>
          </p:cNvPr>
          <p:cNvSpPr/>
          <p:nvPr/>
        </p:nvSpPr>
        <p:spPr>
          <a:xfrm>
            <a:off x="365760" y="232029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0792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1581</Words>
  <Application>Microsoft Office PowerPoint</Application>
  <PresentationFormat>On-screen Show (16:9)</PresentationFormat>
  <Paragraphs>310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Cell Anomaly Detection</dc:title>
  <dc:subject>PptxGenJS Presentation</dc:subject>
  <dc:creator>DIP Spring 2026</dc:creator>
  <cp:lastModifiedBy>Ziad Elsayed</cp:lastModifiedBy>
  <cp:revision>2</cp:revision>
  <dcterms:created xsi:type="dcterms:W3CDTF">2026-05-17T03:47:43Z</dcterms:created>
  <dcterms:modified xsi:type="dcterms:W3CDTF">2026-05-17T04:04:00Z</dcterms:modified>
</cp:coreProperties>
</file>